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How Does Economic Performance
Affect the Housing Market?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4612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E2E8F0"/>
                </a:solidFill>
              </a:rPr>
              <a:t>A Regression Study on Real U.S. Home Prices  ·  1984 – 2025</a:t>
            </a:r>
          </a:p>
        </p:txBody>
      </p:sp>
      <p:sp>
        <p:nvSpPr>
          <p:cNvPr id="6" name="Rectangle 5"/>
          <p:cNvSpPr/>
          <p:nvPr/>
        </p:nvSpPr>
        <p:spPr>
          <a:xfrm>
            <a:off x="3474720" y="3858768"/>
            <a:ext cx="5212080" cy="457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041648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2E8F0"/>
                </a:solidFill>
              </a:rPr>
              <a:t>Samuel Melghem   ·   Omar Hernandez   ·   Ryan Rhodes
Ethan Hennenhoefer   ·   Logan Crider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1206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94A3B8"/>
                </a:solidFill>
              </a:rPr>
              <a:t>ISQS 3358  ·  Spring 2026  ·  Texas Tech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Presentation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65392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ISQS 3358  ·  Spring 2026  ·  Texas Tech University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2697480" cy="1325880"/>
          </a:xfrm>
          <a:prstGeom prst="rect">
            <a:avLst/>
          </a:prstGeom>
          <a:solidFill>
            <a:srgbClr val="1E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274320" cy="132588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252728"/>
            <a:ext cx="2560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12471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Project Purpose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618488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Why housing? Why it matters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64408" y="1051560"/>
            <a:ext cx="2697480" cy="1325880"/>
          </a:xfrm>
          <a:prstGeom prst="rect">
            <a:avLst/>
          </a:prstGeom>
          <a:solidFill>
            <a:srgbClr val="1E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64408" y="1051560"/>
            <a:ext cx="274320" cy="132588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0128" y="1252728"/>
            <a:ext cx="2560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112471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Industry Background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1618488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The housing market at a glance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63056" y="1051560"/>
            <a:ext cx="2697480" cy="1325880"/>
          </a:xfrm>
          <a:prstGeom prst="rect">
            <a:avLst/>
          </a:prstGeom>
          <a:solidFill>
            <a:srgbClr val="1E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3056" y="1051560"/>
            <a:ext cx="274320" cy="132588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08776" y="1252728"/>
            <a:ext cx="2560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112471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Datasets &amp; Sources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1618488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7 FRED series, 1984 – 2025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61704" y="1051560"/>
            <a:ext cx="2697480" cy="1325880"/>
          </a:xfrm>
          <a:prstGeom prst="rect">
            <a:avLst/>
          </a:prstGeom>
          <a:solidFill>
            <a:srgbClr val="1E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61704" y="1051560"/>
            <a:ext cx="274320" cy="132588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07424" y="1252728"/>
            <a:ext cx="2560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09176" y="112471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Data Pipeline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09176" y="1618488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Download → clean → merge → model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697480"/>
            <a:ext cx="2697480" cy="1325880"/>
          </a:xfrm>
          <a:prstGeom prst="rect">
            <a:avLst/>
          </a:prstGeom>
          <a:solidFill>
            <a:srgbClr val="1E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2697480"/>
            <a:ext cx="274320" cy="132588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2898648"/>
            <a:ext cx="2560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277063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Exploratory Analysis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3264408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Trends, relationships, affordability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64408" y="2697480"/>
            <a:ext cx="2697480" cy="1325880"/>
          </a:xfrm>
          <a:prstGeom prst="rect">
            <a:avLst/>
          </a:prstGeom>
          <a:solidFill>
            <a:srgbClr val="1E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64408" y="2697480"/>
            <a:ext cx="274320" cy="132588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10128" y="2898648"/>
            <a:ext cx="2560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11880" y="277063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Regression Model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11880" y="3264408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Features, methodology, results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63056" y="2697480"/>
            <a:ext cx="2697480" cy="1325880"/>
          </a:xfrm>
          <a:prstGeom prst="rect">
            <a:avLst/>
          </a:prstGeom>
          <a:solidFill>
            <a:srgbClr val="1E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63056" y="2697480"/>
            <a:ext cx="274320" cy="132588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08776" y="2898648"/>
            <a:ext cx="2560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10528" y="277063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Key Findings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10528" y="3264408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What drives home prices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61704" y="2697480"/>
            <a:ext cx="2697480" cy="1325880"/>
          </a:xfrm>
          <a:prstGeom prst="rect">
            <a:avLst/>
          </a:prstGeom>
          <a:solidFill>
            <a:srgbClr val="1E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061704" y="2697480"/>
            <a:ext cx="274320" cy="132588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07424" y="2898648"/>
            <a:ext cx="25603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09176" y="277063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Limitations &amp; Conclusion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09176" y="3264408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What the model can and can't 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Project 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65392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ISQS 3358  ·  Spring 2026  ·  Texas Tech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E2E8F0"/>
                </a:solidFill>
              </a:rPr>
              <a:t>Housing is the single largest financial decision most Americans make —
yet few understand what actually drives prices.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874520"/>
            <a:ext cx="1145743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2000">
                <a:solidFill>
                  <a:srgbClr val="E2E8F0"/>
                </a:solidFill>
              </a:rPr>
              <a:t>• Median home price rose from $79K in 1984 to $420K+ by 2025 — a 5× increase in nominal terms</a:t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E2E8F0"/>
                </a:solidFill>
              </a:rPr>
              <a:t>• Inflation-adjusted, real prices roughly doubled — but income growth has lagged behind</a:t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E2E8F0"/>
                </a:solidFill>
              </a:rPr>
              <a:t>• Mortgage rates swung from 14% (1984) to under 3% (2021), reshaping who can afford to buy</a:t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E2E8F0"/>
                </a:solidFill>
              </a:rPr>
              <a:t>• The 2008 crisis showed that mispriced housing can take down the entire economy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4983480"/>
            <a:ext cx="11457432" cy="1005840"/>
          </a:xfrm>
          <a:prstGeom prst="rect">
            <a:avLst/>
          </a:prstGeom>
          <a:solidFill>
            <a:srgbClr val="1E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4983480"/>
            <a:ext cx="64008" cy="10058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029200"/>
            <a:ext cx="111831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C0000"/>
                </a:solidFill>
              </a:rPr>
              <a:t>Research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349240"/>
            <a:ext cx="111831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</a:rPr>
              <a:t>Do economic indicators predict inflation-adjusted home prices — and which factors have the strongest effect?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Industry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65392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ISQS 3358  ·  Spring 2026  ·  Texas Tech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000"/>
                </a:solidFill>
              </a:rPr>
              <a:t>THE U.S. HOUSING 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61872"/>
            <a:ext cx="5394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>
                <a:solidFill>
                  <a:srgbClr val="E2E8F0"/>
                </a:solidFill>
              </a:rPr>
              <a:t>• $40+ trillion in U.S. residential real estate value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E2E8F0"/>
                </a:solidFill>
              </a:rPr>
              <a:t>• Prices set by supply, demand, and financing costs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E2E8F0"/>
                </a:solidFill>
              </a:rPr>
              <a:t>• Highly sensitive to Federal Reserve rate policy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E2E8F0"/>
                </a:solidFill>
              </a:rPr>
              <a:t>• Only ~1.5 million new homes built per year — supply is slow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61188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000"/>
                </a:solidFill>
              </a:rPr>
              <a:t>WHY IT'S HARD TO PREDICT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913632"/>
            <a:ext cx="5394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>
                <a:solidFill>
                  <a:srgbClr val="E2E8F0"/>
                </a:solidFill>
              </a:rPr>
              <a:t>• Mortgage rates move weekly; income data updates annually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E2E8F0"/>
                </a:solidFill>
              </a:rPr>
              <a:t>• Supply shocks (COVID, 2008) create structural breaks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E2E8F0"/>
                </a:solidFill>
              </a:rPr>
              <a:t>• Regional markets often diverge sharply from national averages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153912" y="914400"/>
            <a:ext cx="5669280" cy="5486400"/>
          </a:xfrm>
          <a:prstGeom prst="rect">
            <a:avLst/>
          </a:prstGeom>
          <a:solidFill>
            <a:srgbClr val="1E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53912" y="914400"/>
            <a:ext cx="5669280" cy="5486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0241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000"/>
                </a:solidFill>
              </a:rPr>
              <a:t>OUR APPROACH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>
                <a:solidFill>
                  <a:srgbClr val="E2E8F0"/>
                </a:solidFill>
              </a:rPr>
              <a:t>• Pull 7 economic series from FRED (Federal Reserve Economic Data)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E2E8F0"/>
                </a:solidFill>
              </a:rPr>
              <a:t>• Standardize all frequencies to monthly, merge into one dataset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E2E8F0"/>
                </a:solidFill>
              </a:rPr>
              <a:t>• Inflation-adjust home prices: RealPrice = HomePrice ÷ CPI × 100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E2E8F0"/>
                </a:solidFill>
              </a:rPr>
              <a:t>• Fit a linear regression model to quantify each factor's effect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E2E8F0"/>
                </a:solidFill>
              </a:rPr>
              <a:t>• Full dataset: January 1984 – December 2025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Datasets  ·  All from FRED (Federal Reserve Economic Data)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65392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ISQS 3358  ·  Spring 2026  ·  Texas Tech University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457432" cy="5669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691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Variable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051560"/>
            <a:ext cx="187451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FRED 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39" y="1051560"/>
            <a:ext cx="6263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1051560"/>
            <a:ext cx="1691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Frequency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527048"/>
            <a:ext cx="11457432" cy="566928"/>
          </a:xfrm>
          <a:prstGeom prst="rect">
            <a:avLst/>
          </a:prstGeom>
          <a:solidFill>
            <a:srgbClr val="1E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18488"/>
            <a:ext cx="1691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</a:rPr>
              <a:t>Home Price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1618488"/>
            <a:ext cx="187451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</a:rPr>
              <a:t>MSPUS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39" y="1618488"/>
            <a:ext cx="6263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</a:rPr>
              <a:t>Median U.S. home sale price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61320" y="1618488"/>
            <a:ext cx="1691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</a:rPr>
              <a:t>Quarterly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093976"/>
            <a:ext cx="11457432" cy="56692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185416"/>
            <a:ext cx="1691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</a:rPr>
              <a:t>CPI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2185416"/>
            <a:ext cx="187451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</a:rPr>
              <a:t>CPIAUCSL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39" y="2185416"/>
            <a:ext cx="6263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</a:rPr>
              <a:t>Consumer Price Index (inflation base)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61320" y="2185416"/>
            <a:ext cx="1691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</a:rPr>
              <a:t>Monthly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660904"/>
            <a:ext cx="11457432" cy="566928"/>
          </a:xfrm>
          <a:prstGeom prst="rect">
            <a:avLst/>
          </a:prstGeom>
          <a:solidFill>
            <a:srgbClr val="1E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752344"/>
            <a:ext cx="1691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</a:rPr>
              <a:t>Mortgage 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2752344"/>
            <a:ext cx="187451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</a:rPr>
              <a:t>MORTGAGE30US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39" y="2752344"/>
            <a:ext cx="6263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</a:rPr>
              <a:t>30-year fixed mortgage 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61320" y="2752344"/>
            <a:ext cx="1691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</a:rPr>
              <a:t>Weekly → Monthly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227832"/>
            <a:ext cx="11457432" cy="56692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319272"/>
            <a:ext cx="1691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</a:rPr>
              <a:t>Unemployment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319272"/>
            <a:ext cx="187451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</a:rPr>
              <a:t>UNRATE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06239" y="3319272"/>
            <a:ext cx="6263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</a:rPr>
              <a:t>U.S. unemployment rate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61320" y="3319272"/>
            <a:ext cx="1691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</a:rPr>
              <a:t>Monthly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794760"/>
            <a:ext cx="11457432" cy="566928"/>
          </a:xfrm>
          <a:prstGeom prst="rect">
            <a:avLst/>
          </a:prstGeom>
          <a:solidFill>
            <a:srgbClr val="1E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886200"/>
            <a:ext cx="1691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</a:rPr>
              <a:t>Med. Income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3886200"/>
            <a:ext cx="187451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</a:rPr>
              <a:t>MEHOINUSA646N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39" y="3886200"/>
            <a:ext cx="6263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</a:rPr>
              <a:t>Median household income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61320" y="3886200"/>
            <a:ext cx="1691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</a:rPr>
              <a:t>Annual → Monthly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361688"/>
            <a:ext cx="11457432" cy="56692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4453128"/>
            <a:ext cx="1691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</a:rPr>
              <a:t>Population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40280" y="4453128"/>
            <a:ext cx="187451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</a:rPr>
              <a:t>POPTHM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06239" y="4453128"/>
            <a:ext cx="6263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</a:rPr>
              <a:t>U.S. total population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61320" y="4453128"/>
            <a:ext cx="1691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</a:rPr>
              <a:t>Monthly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4928616"/>
            <a:ext cx="11457432" cy="566928"/>
          </a:xfrm>
          <a:prstGeom prst="rect">
            <a:avLst/>
          </a:prstGeom>
          <a:solidFill>
            <a:srgbClr val="1E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5020056"/>
            <a:ext cx="1691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</a:rPr>
              <a:t>Housing Starts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5020056"/>
            <a:ext cx="1874519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</a:rPr>
              <a:t>HOUST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06239" y="5020056"/>
            <a:ext cx="6263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</a:rPr>
              <a:t>New housing construction starts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61320" y="5020056"/>
            <a:ext cx="1691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E2E8F0"/>
                </a:solidFill>
              </a:rPr>
              <a:t>Monthly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5568696"/>
            <a:ext cx="11457432" cy="566928"/>
          </a:xfrm>
          <a:prstGeom prst="rect">
            <a:avLst/>
          </a:prstGeom>
          <a:solidFill>
            <a:srgbClr val="1E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5660136"/>
            <a:ext cx="111831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Target:  RealPrice = HomePrice ÷ CPI × 100   (inflation-adjusted price)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Data Pipeline  ·  One Command Runs Everything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65392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ISQS 3358  ·  Spring 2026  ·  Texas Tech University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2148840" cy="2011680"/>
          </a:xfrm>
          <a:prstGeom prst="rect">
            <a:avLst/>
          </a:prstGeom>
          <a:solidFill>
            <a:srgbClr val="1E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2148840" cy="38404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060704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1  Download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463040"/>
            <a:ext cx="196596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</a:rPr>
              <a:t>fetch_fred.py
7 FRED series
→ data/raw/</a:t>
            </a:r>
          </a:p>
        </p:txBody>
      </p:sp>
      <p:sp>
        <p:nvSpPr>
          <p:cNvPr id="9" name="Rectangle 8"/>
          <p:cNvSpPr/>
          <p:nvPr/>
        </p:nvSpPr>
        <p:spPr>
          <a:xfrm>
            <a:off x="2679192" y="1005840"/>
            <a:ext cx="2148840" cy="2011680"/>
          </a:xfrm>
          <a:prstGeom prst="rect">
            <a:avLst/>
          </a:prstGeom>
          <a:solidFill>
            <a:srgbClr val="1E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79192" y="1005840"/>
            <a:ext cx="2148840" cy="38404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8920" y="1060704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2  Resample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1463040"/>
            <a:ext cx="196596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</a:rPr>
              <a:t>resampler.py
Weekly → monthly mean
Annual → forward-fill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92624" y="1005840"/>
            <a:ext cx="2148840" cy="2011680"/>
          </a:xfrm>
          <a:prstGeom prst="rect">
            <a:avLst/>
          </a:prstGeom>
          <a:solidFill>
            <a:srgbClr val="1E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92624" y="1005840"/>
            <a:ext cx="2148840" cy="38404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02352" y="1060704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3  Merge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2352" y="1463040"/>
            <a:ext cx="196596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</a:rPr>
              <a:t>merge_data.py
Outer join on date
Fill any gaps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06056" y="1005840"/>
            <a:ext cx="2148840" cy="2011680"/>
          </a:xfrm>
          <a:prstGeom prst="rect">
            <a:avLst/>
          </a:prstGeom>
          <a:solidFill>
            <a:srgbClr val="1E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06056" y="1005840"/>
            <a:ext cx="2148840" cy="38404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15784" y="1060704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4  Adjust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15784" y="1463040"/>
            <a:ext cx="196596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</a:rPr>
              <a:t>calculate_real_price.py
RealPrice =
HomePrice ÷ CPI × 100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19488" y="1005840"/>
            <a:ext cx="2148840" cy="2011680"/>
          </a:xfrm>
          <a:prstGeom prst="rect">
            <a:avLst/>
          </a:prstGeom>
          <a:solidFill>
            <a:srgbClr val="1E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19488" y="1005840"/>
            <a:ext cx="2148840" cy="38404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29216" y="1060704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5 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29216" y="1463040"/>
            <a:ext cx="196596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</a:rPr>
              <a:t>model.py
Linear regression
1984 – 2025 full fit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324612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000"/>
                </a:solidFill>
              </a:rPr>
              <a:t>KEY CLEANING DECISIONS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3547872"/>
            <a:ext cx="1145743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>
                <a:solidFill>
                  <a:srgbClr val="E2E8F0"/>
                </a:solidFill>
              </a:rPr>
              <a:t>• Weekly mortgage rate → averaged to monthly mean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E2E8F0"/>
                </a:solidFill>
              </a:rPr>
              <a:t>• Annual income → forward-filled (same value held month-to-month until next release)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E2E8F0"/>
                </a:solidFill>
              </a:rPr>
              <a:t>• All 7 series merged on date with outer join; remaining gaps filled forward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E2E8F0"/>
                </a:solidFill>
              </a:rPr>
              <a:t>• Result: 504 clean monthly observations, January 1984 – December 2025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Exploratory Analysis  ·  Individual Trends (1984 – 2025)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65392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ISQS 3358  ·  Spring 2026  ·  Texas Tech University</a:t>
            </a:r>
          </a:p>
        </p:txBody>
      </p:sp>
      <p:pic>
        <p:nvPicPr>
          <p:cNvPr id="5" name="Picture 4" descr="real_pr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3749039" cy="2468880"/>
          </a:xfrm>
          <a:prstGeom prst="rect">
            <a:avLst/>
          </a:prstGeom>
        </p:spPr>
      </p:pic>
      <p:pic>
        <p:nvPicPr>
          <p:cNvPr id="6" name="Picture 5" descr="mortgage_r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1103" y="960120"/>
            <a:ext cx="3749039" cy="2468880"/>
          </a:xfrm>
          <a:prstGeom prst="rect">
            <a:avLst/>
          </a:prstGeom>
        </p:spPr>
      </p:pic>
      <p:pic>
        <p:nvPicPr>
          <p:cNvPr id="7" name="Picture 6" descr="unemployment_r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6446" y="960120"/>
            <a:ext cx="3749039" cy="2468880"/>
          </a:xfrm>
          <a:prstGeom prst="rect">
            <a:avLst/>
          </a:prstGeom>
        </p:spPr>
      </p:pic>
      <p:pic>
        <p:nvPicPr>
          <p:cNvPr id="8" name="Picture 7" descr="median_incom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3611880"/>
            <a:ext cx="3749039" cy="2468880"/>
          </a:xfrm>
          <a:prstGeom prst="rect">
            <a:avLst/>
          </a:prstGeom>
        </p:spPr>
      </p:pic>
      <p:pic>
        <p:nvPicPr>
          <p:cNvPr id="9" name="Picture 8" descr="housing_start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1103" y="3611880"/>
            <a:ext cx="3749039" cy="2468880"/>
          </a:xfrm>
          <a:prstGeom prst="rect">
            <a:avLst/>
          </a:prstGeom>
        </p:spPr>
      </p:pic>
      <p:pic>
        <p:nvPicPr>
          <p:cNvPr id="10" name="Picture 9" descr="popula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56446" y="3611880"/>
            <a:ext cx="3749039" cy="2468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6400800"/>
            <a:ext cx="11457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</a:rPr>
              <a:t>Real prices peaked in 2006, crashed in 2008, recovered and surged through 2025.  Mortgage rates fell from 14% → 3% before rebounding in 2022.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Exploratory Analysis  ·  Key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65392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ISQS 3358  ·  Spring 2026  ·  Texas Tech University</a:t>
            </a:r>
          </a:p>
        </p:txBody>
      </p:sp>
      <p:pic>
        <p:nvPicPr>
          <p:cNvPr id="5" name="Picture 4" descr="price_vs_mortg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5943600" cy="2651760"/>
          </a:xfrm>
          <a:prstGeom prst="rect">
            <a:avLst/>
          </a:prstGeom>
        </p:spPr>
      </p:pic>
      <p:pic>
        <p:nvPicPr>
          <p:cNvPr id="6" name="Picture 5" descr="price_vs_inc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749040"/>
            <a:ext cx="5943600" cy="2651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629400" y="914400"/>
            <a:ext cx="5285232" cy="5486400"/>
          </a:xfrm>
          <a:prstGeom prst="rect">
            <a:avLst/>
          </a:prstGeom>
          <a:solidFill>
            <a:srgbClr val="1E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29400" y="914400"/>
            <a:ext cx="5285232" cy="5486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30568" y="10241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000"/>
                </a:solidFill>
              </a:rPr>
              <a:t>WHAT WE SEE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30568" y="1371600"/>
            <a:ext cx="4965192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800">
                <a:solidFill>
                  <a:srgbClr val="E2E8F0"/>
                </a:solidFill>
              </a:rPr>
              <a:t>• Mortgage rate (top): strong negative relationship — as rates fell from 14% → 3%, prices surged. Higher rates price buyers out of the market.</a:t>
            </a:r>
          </a:p>
          <a:p>
            <a:pPr>
              <a:spcBef>
                <a:spcPts val="500"/>
              </a:spcBef>
            </a:pPr>
            <a:r>
              <a:rPr sz="1800">
                <a:solidFill>
                  <a:srgbClr val="E2E8F0"/>
                </a:solidFill>
              </a:rPr>
              <a:t>• Income vs Price (bottom, indexed to 100 in 1984): home prices grew nearly twice as fast as incomes — the gap widened dramatically after 2000 and again after 2020.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Affordability  ·  Are Homes Getting Harder to Buy?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65392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ISQS 3358  ·  Spring 2026  ·  Texas Tech University</a:t>
            </a:r>
          </a:p>
        </p:txBody>
      </p:sp>
      <p:pic>
        <p:nvPicPr>
          <p:cNvPr id="5" name="Picture 4" descr="nominal_vs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5623560" cy="2834640"/>
          </a:xfrm>
          <a:prstGeom prst="rect">
            <a:avLst/>
          </a:prstGeom>
        </p:spPr>
      </p:pic>
      <p:pic>
        <p:nvPicPr>
          <p:cNvPr id="6" name="Picture 5" descr="price_to_income_rat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960120"/>
            <a:ext cx="5623560" cy="2834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65760" y="3931920"/>
            <a:ext cx="5623560" cy="2331720"/>
          </a:xfrm>
          <a:prstGeom prst="rect">
            <a:avLst/>
          </a:prstGeom>
          <a:solidFill>
            <a:srgbClr val="1E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3931920"/>
            <a:ext cx="5623560" cy="2331720"/>
          </a:xfrm>
          <a:prstGeom prst="rect">
            <a:avLst/>
          </a:prstGeom>
          <a:solidFill>
            <a:srgbClr val="1E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4005072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C0000"/>
                </a:solidFill>
              </a:rPr>
              <a:t>Nominal vs. Real Price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4370832"/>
            <a:ext cx="5349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>
                <a:solidFill>
                  <a:srgbClr val="E2E8F0"/>
                </a:solidFill>
              </a:rPr>
              <a:t>• Nominal price rose 5× from 1984 to 2025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E2E8F0"/>
                </a:solidFill>
              </a:rPr>
              <a:t>• Inflation-adjusted real price rose only ~2×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E2E8F0"/>
                </a:solidFill>
              </a:rPr>
              <a:t>• Inflation explains more than half the apparent increase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4005072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C0000"/>
                </a:solidFill>
              </a:rPr>
              <a:t>Price-to-Income Ratio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4370832"/>
            <a:ext cx="5349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>
                <a:solidFill>
                  <a:srgbClr val="E2E8F0"/>
                </a:solidFill>
              </a:rPr>
              <a:t>• 1984: a home cost ~3.5 years of median income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E2E8F0"/>
                </a:solidFill>
              </a:rPr>
              <a:t>• 2025: that figure is now 7+ years — doubled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E2E8F0"/>
                </a:solidFill>
              </a:rPr>
              <a:t>• Affordability has significantly deteriorated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Regression Model  ·  Setup &amp;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65392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ISQS 3358  ·  Spring 2026  ·  Texas Tech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000"/>
                </a:solidFill>
              </a:rPr>
              <a:t>MODEL 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6187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2E8F0"/>
                </a:solidFill>
              </a:rPr>
              <a:t>Ordinary Least Squares Linear Regression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8308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000"/>
                </a:solidFill>
              </a:rPr>
              <a:t>FEATURES  (X — INDEPENDENT VARIABLES)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084832"/>
            <a:ext cx="5486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2000">
                <a:solidFill>
                  <a:srgbClr val="E2E8F0"/>
                </a:solidFill>
              </a:rPr>
              <a:t>• Unemployment Rate</a:t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E2E8F0"/>
                </a:solidFill>
              </a:rPr>
              <a:t>• Mortgage Rate (30-year fixed)</a:t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E2E8F0"/>
                </a:solidFill>
              </a:rPr>
              <a:t>• Median Household Income</a:t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E2E8F0"/>
                </a:solidFill>
              </a:rPr>
              <a:t>• U.S. Population</a:t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E2E8F0"/>
                </a:solidFill>
              </a:rPr>
              <a:t>• Housing Starts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553712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000"/>
                </a:solidFill>
              </a:rPr>
              <a:t>TARGET  (Y — DEPENDENT VARIABLE)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8463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2E8F0"/>
                </a:solidFill>
              </a:rPr>
              <a:t>RealPrice  —  inflation-adjusted median home sale price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39496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000"/>
                </a:solidFill>
              </a:rPr>
              <a:t>WHY LINEAR REGRESSION?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687568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800">
                <a:solidFill>
                  <a:srgbClr val="E2E8F0"/>
                </a:solidFill>
              </a:rPr>
              <a:t>• Interpretable coefficients — we can say exactly how much each variable moves price</a:t>
            </a:r>
          </a:p>
          <a:p>
            <a:pPr>
              <a:spcBef>
                <a:spcPts val="500"/>
              </a:spcBef>
            </a:pPr>
            <a:r>
              <a:rPr sz="1800">
                <a:solidFill>
                  <a:srgbClr val="E2E8F0"/>
                </a:solidFill>
              </a:rPr>
              <a:t>• Strong baseline for economic data with expected linear relationships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914400"/>
            <a:ext cx="5513832" cy="5486400"/>
          </a:xfrm>
          <a:prstGeom prst="rect">
            <a:avLst/>
          </a:prstGeom>
          <a:solidFill>
            <a:srgbClr val="1E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914400"/>
            <a:ext cx="5513832" cy="5486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8" y="10241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000"/>
                </a:solidFill>
              </a:rPr>
              <a:t>DATA COVERAGE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1325880"/>
            <a:ext cx="51937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January 1984 – December 2025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1874520"/>
            <a:ext cx="5193792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2E8F0"/>
                </a:solidFill>
              </a:rPr>
              <a:t>504 monthly observations
All data used for model fitting
(no train/test split —
full dataset regression)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10528" y="4206240"/>
            <a:ext cx="5111496" cy="5486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4389120"/>
            <a:ext cx="51937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R²  =  0.8775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5074920"/>
            <a:ext cx="519379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E2E8F0"/>
                </a:solidFill>
              </a:rPr>
              <a:t>Model explains 88% of variation
in real home prices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Regression Results  ·  Coefficients &amp; Model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65392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ISQS 3358  ·  Spring 2026  ·  Texas Tech University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2697480" cy="1371600"/>
          </a:xfrm>
          <a:prstGeom prst="rect">
            <a:avLst/>
          </a:prstGeom>
          <a:solidFill>
            <a:srgbClr val="1E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2697480" cy="6400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515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R²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0.8775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85623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Explains 88% of variation
in real home prices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64408" y="960120"/>
            <a:ext cx="2697480" cy="1371600"/>
          </a:xfrm>
          <a:prstGeom prst="rect">
            <a:avLst/>
          </a:prstGeom>
          <a:solidFill>
            <a:srgbClr val="1E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64408" y="960120"/>
            <a:ext cx="2697480" cy="6400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01568" y="10515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√MSE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1568" y="13258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≈ $6,546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1568" y="185623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Average prediction error
in today's dollars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63056" y="960120"/>
            <a:ext cx="2697480" cy="1371600"/>
          </a:xfrm>
          <a:prstGeom prst="rect">
            <a:avLst/>
          </a:prstGeom>
          <a:solidFill>
            <a:srgbClr val="1E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3056" y="960120"/>
            <a:ext cx="2697480" cy="6400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0216" y="10515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Observations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0216" y="13258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504 months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185623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January 1984
through December 2025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61704" y="960120"/>
            <a:ext cx="2697480" cy="1371600"/>
          </a:xfrm>
          <a:prstGeom prst="rect">
            <a:avLst/>
          </a:prstGeom>
          <a:solidFill>
            <a:srgbClr val="1E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61704" y="960120"/>
            <a:ext cx="2697480" cy="6400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98864" y="105156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</a:rPr>
              <a:t>Features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98864" y="132588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5 variables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98864" y="185623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All FRED series
after inflation adjustment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496312"/>
            <a:ext cx="11457432" cy="51206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2587752"/>
            <a:ext cx="2697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Feature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46120" y="2587752"/>
            <a:ext cx="1280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Coefficient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2587752"/>
            <a:ext cx="1143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Direction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06440" y="2587752"/>
            <a:ext cx="64922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Interpretation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008376"/>
            <a:ext cx="11457432" cy="512064"/>
          </a:xfrm>
          <a:prstGeom prst="rect">
            <a:avLst/>
          </a:prstGeom>
          <a:solidFill>
            <a:srgbClr val="1E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081528"/>
            <a:ext cx="2697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</a:rPr>
              <a:t>Mortgage Rate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46120" y="3081528"/>
            <a:ext cx="1280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−847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20" y="3081528"/>
            <a:ext cx="1143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A500"/>
                </a:solidFill>
              </a:rPr>
              <a:t>↓ Negative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06440" y="3081528"/>
            <a:ext cx="64922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</a:rPr>
              <a:t>Higher rates → fewer buyers → lower prices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520440"/>
            <a:ext cx="11457432" cy="512064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3593592"/>
            <a:ext cx="2697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</a:rPr>
              <a:t>Unemployment Rate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46120" y="3593592"/>
            <a:ext cx="1280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−1,338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17720" y="3593592"/>
            <a:ext cx="1143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A500"/>
                </a:solidFill>
              </a:rPr>
              <a:t>↓ Negative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06440" y="3593592"/>
            <a:ext cx="64922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</a:rPr>
              <a:t>Higher unemployment → less buying power → lower prices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4032504"/>
            <a:ext cx="11457432" cy="512064"/>
          </a:xfrm>
          <a:prstGeom prst="rect">
            <a:avLst/>
          </a:prstGeom>
          <a:solidFill>
            <a:srgbClr val="1E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4105656"/>
            <a:ext cx="2697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</a:rPr>
              <a:t>Median Household Income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46120" y="4105656"/>
            <a:ext cx="1280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+0.55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17720" y="4105656"/>
            <a:ext cx="1143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DE80"/>
                </a:solidFill>
              </a:rPr>
              <a:t>↑ Positive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06440" y="4105656"/>
            <a:ext cx="64922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</a:rPr>
              <a:t>More income → more purchasing power → higher prices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4544568"/>
            <a:ext cx="11457432" cy="512064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4617720"/>
            <a:ext cx="2697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</a:rPr>
              <a:t>Population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46120" y="4617720"/>
            <a:ext cx="1280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+0.20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17720" y="4617720"/>
            <a:ext cx="1143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DE80"/>
                </a:solidFill>
              </a:rPr>
              <a:t>↑ Positive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06440" y="4617720"/>
            <a:ext cx="64922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</a:rPr>
              <a:t>More people → more demand → higher prices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5056632"/>
            <a:ext cx="11457432" cy="512064"/>
          </a:xfrm>
          <a:prstGeom prst="rect">
            <a:avLst/>
          </a:prstGeom>
          <a:solidFill>
            <a:srgbClr val="1E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5129784"/>
            <a:ext cx="26974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</a:rPr>
              <a:t>Housing Starts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46120" y="5129784"/>
            <a:ext cx="12801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+7.53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17720" y="5129784"/>
            <a:ext cx="11430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4ADE80"/>
                </a:solidFill>
              </a:rPr>
              <a:t>↑ Positive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806440" y="5129784"/>
            <a:ext cx="64922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</a:rPr>
              <a:t>More construction during growth periods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How Well Did the Model Predict?  ·  Actual vs. Predicted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65392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ISQS 3358  ·  Spring 2026  ·  Texas Tech University</a:t>
            </a:r>
          </a:p>
        </p:txBody>
      </p:sp>
      <p:pic>
        <p:nvPicPr>
          <p:cNvPr id="5" name="Picture 4" descr="actual_vs_predi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7406640" cy="53949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046720" y="914400"/>
            <a:ext cx="3867912" cy="5486400"/>
          </a:xfrm>
          <a:prstGeom prst="rect">
            <a:avLst/>
          </a:prstGeom>
          <a:solidFill>
            <a:srgbClr val="1E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46720" y="914400"/>
            <a:ext cx="3867912" cy="5486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47888" y="10241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000"/>
                </a:solidFill>
              </a:rPr>
              <a:t>READING THE CHART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47888" y="1325880"/>
            <a:ext cx="354787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>
                <a:solidFill>
                  <a:srgbClr val="E2E8F0"/>
                </a:solidFill>
              </a:rPr>
              <a:t>• Blue = actual inflation-adjusted price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E2E8F0"/>
                </a:solidFill>
              </a:rPr>
              <a:t>• Dashed = model's fitted values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47888" y="265176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C0000"/>
                </a:solidFill>
              </a:rPr>
              <a:t>WHAT THIS TELLS 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47888" y="2971800"/>
            <a:ext cx="3547872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E2E8F0"/>
                </a:solidFill>
              </a:rPr>
              <a:t>• Model tracks the 40-year trend extremely well (R² = 0.88)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E2E8F0"/>
                </a:solidFill>
              </a:rPr>
              <a:t>• Captures the 2008 crash and the long recovery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E2E8F0"/>
                </a:solidFill>
              </a:rPr>
              <a:t>• The 2020–2025 COVID surge is visible — the model follows it but economic fundamentals were stress-tested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E2E8F0"/>
                </a:solidFill>
              </a:rPr>
              <a:t>• Short-term shocks move prices above or below the economic baseline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65392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ISQS 3358  ·  Spring 2026  ·  Texas Tech University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87552"/>
            <a:ext cx="3657600" cy="2286000"/>
          </a:xfrm>
          <a:prstGeom prst="rect">
            <a:avLst/>
          </a:prstGeom>
          <a:solidFill>
            <a:srgbClr val="1E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87552"/>
            <a:ext cx="64008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078992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Income Drives Prices 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554480"/>
            <a:ext cx="3429000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</a:rPr>
              <a:t>Median household income had the strongest positive effect. As earnings rise, buyers qualify for larger mortgages — prices follow.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987552"/>
            <a:ext cx="3657600" cy="2286000"/>
          </a:xfrm>
          <a:prstGeom prst="rect">
            <a:avLst/>
          </a:prstGeom>
          <a:solidFill>
            <a:srgbClr val="1E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987552"/>
            <a:ext cx="64008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16552" y="1078992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Mortgage Rates Suppress Prices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6552" y="1554480"/>
            <a:ext cx="3429000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</a:rPr>
              <a:t>Every 1% rise in the 30-year rate corresponds to ~$847 lower real price. The 40-year rate decline quietly subsidized price growth.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987552"/>
            <a:ext cx="3657600" cy="2286000"/>
          </a:xfrm>
          <a:prstGeom prst="rect">
            <a:avLst/>
          </a:prstGeom>
          <a:solidFill>
            <a:srgbClr val="1E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987552"/>
            <a:ext cx="64008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1078992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Unemployment Drives Prices Down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1554480"/>
            <a:ext cx="3429000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</a:rPr>
              <a:t>Higher unemployment reduces buying power and forces distressed sellers — seen clearly in the 2008–2009 price crash.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438144"/>
            <a:ext cx="3657600" cy="2286000"/>
          </a:xfrm>
          <a:prstGeom prst="rect">
            <a:avLst/>
          </a:prstGeom>
          <a:solidFill>
            <a:srgbClr val="1E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438144"/>
            <a:ext cx="64008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3529584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Affordability Has Deteriorated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4005072"/>
            <a:ext cx="3429000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</a:rPr>
              <a:t>Price-to-income ratio doubled from 3.5× in 1984 to 7×+ in 2025. Even adjusting for inflation, homes are much harder to afford.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60" y="3438144"/>
            <a:ext cx="3657600" cy="2286000"/>
          </a:xfrm>
          <a:prstGeom prst="rect">
            <a:avLst/>
          </a:prstGeom>
          <a:solidFill>
            <a:srgbClr val="1E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60" y="3438144"/>
            <a:ext cx="64008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16552" y="3529584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Inflation Masks Real Growth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16552" y="4005072"/>
            <a:ext cx="3429000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</a:rPr>
              <a:t>Nominal prices rose 5×, but inflation-adjusted prices only ~2×. Inflation explains most of the apparent price explosion.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3438144"/>
            <a:ext cx="3657600" cy="2286000"/>
          </a:xfrm>
          <a:prstGeom prst="rect">
            <a:avLst/>
          </a:prstGeom>
          <a:solidFill>
            <a:srgbClr val="1E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3438144"/>
            <a:ext cx="64008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2752" y="3529584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Model Explains 88% of Variation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02752" y="4005072"/>
            <a:ext cx="3429000" cy="162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2E8F0"/>
                </a:solidFill>
              </a:rPr>
              <a:t>Five economic variables — income, rates, unemployment, population, and housing starts — capture the vast majority of price movement.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Limitations  ·  What the Model Can't Fully Capture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65392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ISQS 3358  ·  Spring 2026  ·  Texas Tech University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11457432" cy="1261872"/>
          </a:xfrm>
          <a:prstGeom prst="rect">
            <a:avLst/>
          </a:prstGeom>
          <a:solidFill>
            <a:srgbClr val="1E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64008" cy="1261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National Averages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1069848"/>
            <a:ext cx="8668512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E2E8F0"/>
                </a:solidFill>
              </a:rPr>
              <a:t>All FRED series are U.S.-wide. Texas, California, and rural Midwest behave very differently — a national model misses all regional variation.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331720"/>
            <a:ext cx="11457432" cy="1261872"/>
          </a:xfrm>
          <a:prstGeom prst="rect">
            <a:avLst/>
          </a:prstGeom>
          <a:solidFill>
            <a:srgbClr val="1E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331720"/>
            <a:ext cx="64008" cy="1261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4231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Multicollinearity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2441448"/>
            <a:ext cx="8668512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E2E8F0"/>
                </a:solidFill>
              </a:rPr>
              <a:t>Income, population, and time all trend together. This can inflate or deflate individual coefficients — interpret directions, not exact magnitudes.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703320"/>
            <a:ext cx="11457432" cy="1261872"/>
          </a:xfrm>
          <a:prstGeom prst="rect">
            <a:avLst/>
          </a:prstGeom>
          <a:solidFill>
            <a:srgbClr val="1E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703320"/>
            <a:ext cx="64008" cy="1261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7947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Linear Assumption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3813048"/>
            <a:ext cx="8668512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E2E8F0"/>
                </a:solidFill>
              </a:rPr>
              <a:t>The model assumes relationships are constant over 40 years. In reality, a 1% mortgage rate change at 14% differs from one at 3%.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074920"/>
            <a:ext cx="11457432" cy="1261872"/>
          </a:xfrm>
          <a:prstGeom prst="rect">
            <a:avLst/>
          </a:prstGeom>
          <a:solidFill>
            <a:srgbClr val="1E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5074920"/>
            <a:ext cx="64008" cy="126187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1663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Supply-Side Gaps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5184648"/>
            <a:ext cx="8668512" cy="1033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E2E8F0"/>
                </a:solidFill>
              </a:rPr>
              <a:t>Zoning laws, construction costs, and land scarcity matter. Housing starts is a rough proxy, not a full picture of supply.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Conclusion  ·  What We Learned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65392"/>
            <a:ext cx="11612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ISQS 3358  ·  Spring 2026  ·  Texas Tech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45743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E2E8F0"/>
                </a:solidFill>
              </a:rPr>
              <a:t>Economic performance drives the housing market — but not always in the ways people assume.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45920"/>
            <a:ext cx="5486400" cy="4709160"/>
          </a:xfrm>
          <a:prstGeom prst="rect">
            <a:avLst/>
          </a:prstGeom>
          <a:solidFill>
            <a:srgbClr val="1E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645920"/>
            <a:ext cx="5486400" cy="5486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C0000"/>
                </a:solidFill>
              </a:rPr>
              <a:t>What We Found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5212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800">
                <a:solidFill>
                  <a:srgbClr val="E2E8F0"/>
                </a:solidFill>
              </a:rPr>
              <a:t>• Income and mortgage rates are the two strongest forces on home prices</a:t>
            </a:r>
          </a:p>
          <a:p>
            <a:pPr>
              <a:spcBef>
                <a:spcPts val="500"/>
              </a:spcBef>
            </a:pPr>
            <a:r>
              <a:rPr sz="1800">
                <a:solidFill>
                  <a:srgbClr val="E2E8F0"/>
                </a:solidFill>
              </a:rPr>
              <a:t>• Homes now cost 7× median annual income — up from 3.5× in 1984</a:t>
            </a:r>
          </a:p>
          <a:p>
            <a:pPr>
              <a:spcBef>
                <a:spcPts val="500"/>
              </a:spcBef>
            </a:pPr>
            <a:r>
              <a:rPr sz="1800">
                <a:solidFill>
                  <a:srgbClr val="E2E8F0"/>
                </a:solidFill>
              </a:rPr>
              <a:t>• Inflation explains most of the 5× nominal price increase; real growth was ~2×</a:t>
            </a:r>
          </a:p>
          <a:p>
            <a:pPr>
              <a:spcBef>
                <a:spcPts val="500"/>
              </a:spcBef>
            </a:pPr>
            <a:r>
              <a:rPr sz="1800">
                <a:solidFill>
                  <a:srgbClr val="E2E8F0"/>
                </a:solidFill>
              </a:rPr>
              <a:t>• Five economic variables explain 88% of 40 years of price variation</a:t>
            </a:r>
          </a:p>
          <a:p>
            <a:pPr>
              <a:spcBef>
                <a:spcPts val="500"/>
              </a:spcBef>
            </a:pPr>
            <a:r>
              <a:rPr sz="1800">
                <a:solidFill>
                  <a:srgbClr val="E2E8F0"/>
                </a:solidFill>
              </a:rPr>
              <a:t>• Short-term shocks (2008 crisis, COVID) add noise above the economic baseline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645920"/>
            <a:ext cx="5650992" cy="4709160"/>
          </a:xfrm>
          <a:prstGeom prst="rect">
            <a:avLst/>
          </a:prstGeom>
          <a:solidFill>
            <a:srgbClr val="1E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645920"/>
            <a:ext cx="5650992" cy="5486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737360"/>
            <a:ext cx="5376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C0000"/>
                </a:solidFill>
              </a:rPr>
              <a:t>The Big Picture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148840"/>
            <a:ext cx="537667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800">
                <a:solidFill>
                  <a:srgbClr val="E2E8F0"/>
                </a:solidFill>
              </a:rPr>
              <a:t>• The 40-year decline in mortgage rates (14% → 3%) quietly subsidized price growth — cheap financing made expensive homes feel affordable</a:t>
            </a:r>
          </a:p>
          <a:p>
            <a:pPr>
              <a:spcBef>
                <a:spcPts val="500"/>
              </a:spcBef>
            </a:pPr>
            <a:r>
              <a:rPr sz="1800">
                <a:solidFill>
                  <a:srgbClr val="E2E8F0"/>
                </a:solidFill>
              </a:rPr>
              <a:t>• When rates reversed sharply in 2022, affordability collapsed almost overnight</a:t>
            </a:r>
          </a:p>
          <a:p>
            <a:pPr>
              <a:spcBef>
                <a:spcPts val="500"/>
              </a:spcBef>
            </a:pPr>
            <a:r>
              <a:rPr sz="1800">
                <a:solidFill>
                  <a:srgbClr val="E2E8F0"/>
                </a:solidFill>
              </a:rPr>
              <a:t>• Data-driven analysis of fundamentals is essential — nominal prices alone are misleading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5715000"/>
            <a:ext cx="11457432" cy="594360"/>
          </a:xfrm>
          <a:prstGeom prst="rect">
            <a:avLst/>
          </a:prstGeom>
          <a:solidFill>
            <a:srgbClr val="1E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806440"/>
            <a:ext cx="111831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94A3B8"/>
                </a:solidFill>
              </a:rPr>
              <a:t>github.com/EthanH2004/Housing_Analysis  ·  Full code &amp; data, one command reproduces the entire analysis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6060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E2E8F0"/>
                </a:solidFill>
              </a:rPr>
              <a:t>Questions?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3474720"/>
            <a:ext cx="5760720" cy="5486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>
                <a:solidFill>
                  <a:srgbClr val="E2E8F0"/>
                </a:solidFill>
              </a:rPr>
              <a:t>Samuel Melghem   ·   Omar Hernandez   ·   Ryan Rhodes
Ethan Hennenhoefer   ·   Logan Crider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7091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94A3B8"/>
                </a:solidFill>
              </a:rPr>
              <a:t>ISQS 3358  ·  Spring 2026  ·  Texas Tech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